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95C38-5CE0-24AA-341A-019B3B62E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1DA029E-E319-ED67-C779-B2A827CB0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9F3CB6-1655-6BF1-9EB8-08B587A98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8B0463-9340-22D4-58C1-D0992C014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831D45-54A6-9E03-250B-C945521A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662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596357-58F0-56C5-FBFC-9CEFC446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8E905E-939F-6759-465A-34832988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FA87CB-E977-36DA-8D88-ED8A7DE5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31D217-D643-E59E-4AA5-68495EDE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F6F280-31DD-79CE-E73E-BDC06514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85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1F06B2-B646-BD72-18D1-A118D81E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796D-C273-BAEC-13A5-9201630A9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C03F02-D086-E5B2-9C42-EE4FCAB4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2FE1EA-814E-A545-95DF-A4E6696E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413E63-B635-9704-8708-D9D69A92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8898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621B30-AECE-5334-B09A-21404529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0006F7-0CE4-377E-C3B8-261710302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5AA0C3-A35E-B8E6-69A2-1E01343D3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246A3B-8AA3-8202-F4D9-2807EBA2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E471F6-3982-BCE7-A861-10024C0EC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4F8D42-784D-E2D0-F2FE-66BB77F5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173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9F6E58-2A33-9E4B-7DCB-66557DB7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3F4273-43BC-C446-57D7-8B1FC5715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6541FDB-0127-B9CE-D942-5FE99FFFF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A101526-148A-2D0F-DED3-7F352769F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73F7AB4-AD85-842F-EAD5-E091ED67D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CF1F30F-2AF7-992E-30FC-2F0B2875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80ACF6C-F72F-5E29-D8FF-977C4881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8A1AC0B-27A4-B3B1-4107-A33058EF7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334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E0FA9F-BCBE-1815-8539-9534C0F7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638B8F6-A506-0F4D-B037-77DCDEF4A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1BCE7EC-D59D-2C47-A1CE-29C4D8EF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925E2EC-A4D1-FE81-7601-30F0C584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74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C78C352-9A28-FA8C-0DCD-839C5C0B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26404F7-E7CD-6B0D-1FB5-A40613D1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7C703A-8EB6-D2CF-BB93-CE6D7B9A7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03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01366F-EC60-359B-BAE1-25F7FA758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1DFAD3-A848-C0D6-8B22-7E98E8980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F5D3C2-CD3D-13B6-6532-DAEBCF74F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D06C89-2E71-E902-A6E6-A0A1DECF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A8D672-C42E-E513-7587-C216E96F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00453C-D177-2296-9E6E-04D95B68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02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6CE96C-0331-0013-ABCD-8686679B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C77FB-F37B-5C7C-37C2-0C340A635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8675EA9-8730-56CD-04E3-8B31318E5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C9F51C-408E-6139-89E6-2358B31E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EC7C5A-2CBD-5F3B-76A5-09B9BB54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6A5B60-B96A-0624-2CB0-F7015592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9803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7A0CC0-7A94-167F-60C0-032DA84C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59B5D74-03C9-78BF-D90E-FD6C2D5DB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45B113-5741-68FE-D812-0DB6A8F5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E01BD2-AFE9-3D7F-4394-747A6BB0E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4CC0D4-E295-7A67-FE7C-848C8468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201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55472E-AE35-29AB-613E-3DDEE6D40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82CD875-5931-2913-11D5-8ABD4C702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B06742-4B9B-F418-53E6-07FA593C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FC7777-73D5-1871-C0C4-7FE5BB86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0CEA25-10CA-CFDE-3D43-E82507D4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158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B868A9C-0369-33F5-4087-8AC9CEF8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85FC15-1C2B-30F4-91A7-F460A0A48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A6D23E-2D0A-BC52-0EBB-696AAABAF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5D495-F234-4AF6-958F-043528B997EC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ECC3ED-0A03-9E9C-2D83-AEA8899E2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7D203E-59EC-8816-37FF-A65EC2551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5C295-6330-4A76-A3FA-26D57C2D7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386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CD393AE-0B16-20C9-5315-21243ED5E986}"/>
              </a:ext>
            </a:extLst>
          </p:cNvPr>
          <p:cNvSpPr txBox="1"/>
          <p:nvPr/>
        </p:nvSpPr>
        <p:spPr>
          <a:xfrm>
            <a:off x="762000" y="444500"/>
            <a:ext cx="10668000" cy="6309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3500" b="1">
                <a:latin typeface="Arial" panose="020B0604020202020204" pitchFamily="34" charset="0"/>
              </a:rPr>
              <a:t>顯熱傳遞模型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125439B-6E47-C5CE-F92B-D170F66B0A6C}"/>
              </a:ext>
            </a:extLst>
          </p:cNvPr>
          <p:cNvSpPr txBox="1"/>
          <p:nvPr/>
        </p:nvSpPr>
        <p:spPr>
          <a:xfrm>
            <a:off x="1143000" y="1587500"/>
            <a:ext cx="9906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 sz="2200">
                <a:latin typeface="Arial" panose="020B0604020202020204" pitchFamily="34" charset="0"/>
              </a:rPr>
              <a:t>物體吸收之顯熱可表示如下：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6839DA-C0E7-AF66-37D8-1CF148EAE37E}"/>
              </a:ext>
            </a:extLst>
          </p:cNvPr>
          <p:cNvSpPr txBox="1"/>
          <p:nvPr/>
        </p:nvSpPr>
        <p:spPr>
          <a:xfrm>
            <a:off x="2286000" y="2921000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TW" sz="2800">
                <a:latin typeface="Arial" panose="020B0604020202020204" pitchFamily="34" charset="0"/>
              </a:rPr>
              <a:t>{{MATH:sensible_heat}}</a:t>
            </a:r>
            <a:endParaRPr lang="zh-TW" altLang="en-US" sz="2800">
              <a:latin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AFF624-289E-AF2D-2419-A17824B75883}"/>
              </a:ext>
            </a:extLst>
          </p:cNvPr>
          <p:cNvSpPr txBox="1"/>
          <p:nvPr/>
        </p:nvSpPr>
        <p:spPr>
          <a:xfrm>
            <a:off x="1143000" y="4254500"/>
            <a:ext cx="990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TW" altLang="en-US">
                <a:latin typeface="Arial" panose="020B0604020202020204" pitchFamily="34" charset="0"/>
              </a:rPr>
              <a:t>其中，</a:t>
            </a:r>
            <a:r>
              <a:rPr lang="en-US" altLang="zh-TW">
                <a:latin typeface="Arial" panose="020B0604020202020204" pitchFamily="34" charset="0"/>
              </a:rPr>
              <a:t>Q </a:t>
            </a:r>
            <a:r>
              <a:rPr lang="zh-TW" altLang="en-US">
                <a:latin typeface="Arial" panose="020B0604020202020204" pitchFamily="34" charset="0"/>
              </a:rPr>
              <a:t>為顯熱量，單位為 </a:t>
            </a:r>
            <a:r>
              <a:rPr lang="en-US" altLang="zh-TW">
                <a:latin typeface="Arial" panose="020B0604020202020204" pitchFamily="34" charset="0"/>
              </a:rPr>
              <a:t>J</a:t>
            </a:r>
            <a:r>
              <a:rPr lang="zh-TW" altLang="en-US">
                <a:latin typeface="Arial" panose="020B0604020202020204" pitchFamily="34" charset="0"/>
              </a:rPr>
              <a:t>；</a:t>
            </a:r>
            <a:r>
              <a:rPr lang="en-US" altLang="zh-TW">
                <a:latin typeface="Arial" panose="020B0604020202020204" pitchFamily="34" charset="0"/>
              </a:rPr>
              <a:t>m </a:t>
            </a:r>
            <a:r>
              <a:rPr lang="zh-TW" altLang="en-US">
                <a:latin typeface="Arial" panose="020B0604020202020204" pitchFamily="34" charset="0"/>
              </a:rPr>
              <a:t>為質量，單位為 </a:t>
            </a:r>
            <a:r>
              <a:rPr lang="en-US" altLang="zh-TW">
                <a:latin typeface="Arial" panose="020B0604020202020204" pitchFamily="34" charset="0"/>
              </a:rPr>
              <a:t>kg</a:t>
            </a:r>
            <a:r>
              <a:rPr lang="zh-TW" altLang="en-US">
                <a:latin typeface="Arial" panose="020B0604020202020204" pitchFamily="34" charset="0"/>
              </a:rPr>
              <a:t>；</a:t>
            </a:r>
            <a:r>
              <a:rPr lang="en-US" altLang="zh-TW">
                <a:latin typeface="Arial" panose="020B0604020202020204" pitchFamily="34" charset="0"/>
              </a:rPr>
              <a:t>c_p </a:t>
            </a:r>
            <a:r>
              <a:rPr lang="zh-TW" altLang="en-US">
                <a:latin typeface="Arial" panose="020B0604020202020204" pitchFamily="34" charset="0"/>
              </a:rPr>
              <a:t>為定壓比熱容，單位為 </a:t>
            </a:r>
            <a:r>
              <a:rPr lang="en-US" altLang="zh-TW">
                <a:latin typeface="Arial" panose="020B0604020202020204" pitchFamily="34" charset="0"/>
              </a:rPr>
              <a:t>J/(kg·K)</a:t>
            </a:r>
            <a:r>
              <a:rPr lang="zh-TW" altLang="en-US">
                <a:latin typeface="Arial" panose="020B0604020202020204" pitchFamily="34" charset="0"/>
              </a:rPr>
              <a:t>；</a:t>
            </a:r>
            <a:r>
              <a:rPr lang="en-US" altLang="zh-TW">
                <a:latin typeface="Arial" panose="020B0604020202020204" pitchFamily="34" charset="0"/>
              </a:rPr>
              <a:t>ΔT </a:t>
            </a:r>
            <a:r>
              <a:rPr lang="zh-TW" altLang="en-US">
                <a:latin typeface="Arial" panose="020B0604020202020204" pitchFamily="34" charset="0"/>
              </a:rPr>
              <a:t>為溫度變化量，單位為 </a:t>
            </a:r>
            <a:r>
              <a:rPr lang="en-US" altLang="zh-TW">
                <a:latin typeface="Arial" panose="020B0604020202020204" pitchFamily="34" charset="0"/>
              </a:rPr>
              <a:t>K</a:t>
            </a:r>
            <a:r>
              <a:rPr lang="zh-TW" altLang="en-US">
                <a:latin typeface="Arial" panose="020B0604020202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54332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自訂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Jia-Ming</dc:creator>
  <cp:lastModifiedBy>Jia-Ming</cp:lastModifiedBy>
  <cp:revision>1</cp:revision>
  <dcterms:created xsi:type="dcterms:W3CDTF">2026-07-20T07:12:44Z</dcterms:created>
  <dcterms:modified xsi:type="dcterms:W3CDTF">2026-07-20T07:12:44Z</dcterms:modified>
</cp:coreProperties>
</file>